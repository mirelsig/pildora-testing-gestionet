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embeddedFontLst>
    <p:embeddedFont>
      <p:font typeface="Lato" panose="020F0502020204030203" pitchFamily="34" charset="0"/>
      <p:regular r:id="rId15"/>
      <p:bold r:id="rId16"/>
      <p:italic r:id="rId17"/>
      <p:boldItalic r:id="rId18"/>
    </p:embeddedFont>
    <p:embeddedFont>
      <p:font typeface="Poppins SemiBold" panose="0000070000000000000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35"/>
  </p:normalViewPr>
  <p:slideViewPr>
    <p:cSldViewPr snapToGrid="0">
      <p:cViewPr varScale="1">
        <p:scale>
          <a:sx n="120" d="100"/>
          <a:sy n="120" d="100"/>
        </p:scale>
        <p:origin x="448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1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330529" y="2852886"/>
            <a:ext cx="75309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Prácticas Profesionales</a:t>
            </a:r>
            <a:r>
              <a:rPr lang="en-US" sz="45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QA en Gestionet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25" y="4419736"/>
            <a:ext cx="857250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Ensayo de testing para el departamento QA en el marco de prácticas profesionales de Peñascal F5 cohorte 2026, Bootcamp Desarrollo Web Fullstack.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638675" y="5321477"/>
            <a:ext cx="29148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818CF8"/>
                </a:solidFill>
                <a:latin typeface="Lato"/>
                <a:ea typeface="Lato"/>
                <a:cs typeface="Lato"/>
                <a:sym typeface="Lato"/>
              </a:rPr>
              <a:t>Autora: Mirel Volcán Calderón</a:t>
            </a:r>
            <a:endParaRPr/>
          </a:p>
        </p:txBody>
      </p:sp>
      <p:pic>
        <p:nvPicPr>
          <p:cNvPr id="88" name="Google Shape;88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0" y="1738461"/>
            <a:ext cx="7620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581025" y="1171575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4" title="Demo_Paywrigh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055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8702112" y="6612547"/>
            <a:ext cx="336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>
                <a:solidFill>
                  <a:srgbClr val="818CF8"/>
                </a:solidFill>
                <a:latin typeface="Lato"/>
                <a:ea typeface="Lato"/>
                <a:cs typeface="Lato"/>
                <a:sym typeface="Lato"/>
              </a:rPr>
              <a:t>Imagen </a:t>
            </a:r>
            <a:r>
              <a:rPr lang="en-US" sz="1200" b="0" i="1" u="none" strike="noStrike" cap="none">
                <a:solidFill>
                  <a:srgbClr val="818CF8"/>
                </a:solidFill>
                <a:latin typeface="Lato"/>
                <a:ea typeface="Lato"/>
                <a:cs typeface="Lato"/>
                <a:sym typeface="Lato"/>
              </a:rPr>
              <a:t> de referencia: Demo_Paywright.png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622202"/>
            <a:ext cx="3486150" cy="2604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622202"/>
            <a:ext cx="3486150" cy="2604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622202"/>
            <a:ext cx="3486150" cy="2604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24062" y="2917477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/>
        </p:nvSpPr>
        <p:spPr>
          <a:xfrm>
            <a:off x="1118949" y="3631852"/>
            <a:ext cx="241030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Entornos inestables</a:t>
            </a:r>
            <a:endParaRPr/>
          </a:p>
        </p:txBody>
      </p:sp>
      <p:sp>
        <p:nvSpPr>
          <p:cNvPr id="112" name="Google Shape;112;p16"/>
          <p:cNvSpPr txBox="1"/>
          <p:nvPr/>
        </p:nvSpPr>
        <p:spPr>
          <a:xfrm>
            <a:off x="876300" y="4108102"/>
            <a:ext cx="28956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Las pruebas fallan frecuentemente debido a pequeñas diferencias de entorno entre las máquinas locales.</a:t>
            </a:r>
            <a:endParaRPr/>
          </a:p>
        </p:txBody>
      </p:sp>
      <p:pic>
        <p:nvPicPr>
          <p:cNvPr id="113" name="Google Shape;113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15025" y="2917477"/>
            <a:ext cx="3619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4850844" y="3631852"/>
            <a:ext cx="249031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Consumo de tiempo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4648200" y="4108102"/>
            <a:ext cx="28956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Revisar los fallos y logs manualmente consume una gran cantidad de tiempo productivo del equipo.</a:t>
            </a:r>
            <a:endParaRPr/>
          </a:p>
        </p:txBody>
      </p:sp>
      <p:pic>
        <p:nvPicPr>
          <p:cNvPr id="116" name="Google Shape;116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29775" y="291747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8757761" y="3631852"/>
            <a:ext cx="222027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Tareas repetitivas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8420100" y="4108102"/>
            <a:ext cx="28956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Repetir tareas de aseguramiento de calidad (QA) constantemente ralentiza el avance general.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581025" y="485775"/>
            <a:ext cx="1158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 problema real </a:t>
            </a:r>
            <a:r>
              <a:rPr lang="en-US" sz="300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</a:t>
            </a:r>
            <a:r>
              <a:rPr lang="en-US" sz="30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testing</a:t>
            </a:r>
            <a:endParaRPr/>
          </a:p>
        </p:txBody>
      </p:sp>
      <p:sp>
        <p:nvSpPr>
          <p:cNvPr id="120" name="Google Shape;120;p16"/>
          <p:cNvSpPr/>
          <p:nvPr/>
        </p:nvSpPr>
        <p:spPr>
          <a:xfrm>
            <a:off x="581025" y="1171575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14550"/>
            <a:ext cx="52768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 txBox="1"/>
          <p:nvPr/>
        </p:nvSpPr>
        <p:spPr>
          <a:xfrm>
            <a:off x="1009650" y="2561629"/>
            <a:ext cx="48482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Playwright comprueba la aplicación exactamente como si fuera una persona usuaria.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1009650" y="3470076"/>
            <a:ext cx="48482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Permite validar interfaz visual, flujos completos y comportamientos de red.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1009650" y="4378523"/>
            <a:ext cx="48482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Sirve para detectar errores críticos antes de liberar cualquier cambio a producción.</a:t>
            </a:r>
            <a:endParaRPr/>
          </a:p>
        </p:txBody>
      </p:sp>
      <p:pic>
        <p:nvPicPr>
          <p:cNvPr id="130" name="Google Shape;13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3175" y="2133600"/>
            <a:ext cx="5238750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2599729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3508176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4416623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581025" y="485775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Testing automatizado con navegadores reales</a:t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581025" y="1171575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781300"/>
            <a:ext cx="527685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781300"/>
            <a:ext cx="527685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/>
        </p:nvSpPr>
        <p:spPr>
          <a:xfrm>
            <a:off x="971550" y="3171825"/>
            <a:ext cx="472059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Interacción Front-End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971550" y="3762375"/>
            <a:ext cx="4495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Un usuario simulado responde un quiz gamificado. La aplicación calcula los puntos obtenidos y asigna un badge correspondiente según el rendimiento.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6724650" y="3171825"/>
            <a:ext cx="472059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Validación Back-End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6724650" y="3622600"/>
            <a:ext cx="44958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El backend guarda esta información. El test E2E verifica meticulosamente que lo mostrado en la interfaz de usuario y los datos en la base de datos coincidan.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581025" y="485775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Flujo de prueba usado como ejemplo</a:t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581025" y="1171575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58350" y="2336950"/>
            <a:ext cx="4848225" cy="332549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9"/>
          <p:cNvSpPr txBox="1"/>
          <p:nvPr/>
        </p:nvSpPr>
        <p:spPr>
          <a:xfrm>
            <a:off x="1009650" y="2107406"/>
            <a:ext cx="48482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Docker empaqueta la demo y evita por completo las diferencias entre máquinas.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1009650" y="3015853"/>
            <a:ext cx="48482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La aplicación se ejecuta de forma controlada en contenedores.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1009650" y="3924300"/>
            <a:ext cx="48482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Los tests también se pueden correr aislados sin dependencias externas.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1009650" y="4832746"/>
            <a:ext cx="48482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Se erradican los errores provocados por la frase "en mi máquina sí funciona".</a:t>
            </a:r>
            <a:endParaRPr/>
          </a:p>
        </p:txBody>
      </p:sp>
      <p:pic>
        <p:nvPicPr>
          <p:cNvPr id="159" name="Google Shape;15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150268"/>
            <a:ext cx="2857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053953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39624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4870846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581025" y="485775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Mismo resultado en cualquier entorno</a:t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581025" y="1171575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19"/>
          <p:cNvPicPr preferRelativeResize="0"/>
          <p:nvPr/>
        </p:nvPicPr>
        <p:blipFill rotWithShape="1">
          <a:blip r:embed="rId9">
            <a:alphaModFix/>
          </a:blip>
          <a:srcRect l="9487" t="20983" r="8236" b="9398"/>
          <a:stretch/>
        </p:blipFill>
        <p:spPr>
          <a:xfrm>
            <a:off x="6501925" y="1960601"/>
            <a:ext cx="5269662" cy="386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6300" y="2944117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34150" y="2944117"/>
            <a:ext cx="3714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300" y="4475708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34150" y="4475708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1543050" y="2830859"/>
            <a:ext cx="270080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Backend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1543050" y="3211859"/>
            <a:ext cx="2572196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818CF8"/>
                </a:solidFill>
                <a:latin typeface="Arial"/>
                <a:ea typeface="Arial"/>
                <a:cs typeface="Arial"/>
                <a:sym typeface="Arial"/>
              </a:rPr>
              <a:t>demo-playwright/server.js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7143750" y="2830859"/>
            <a:ext cx="324103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Base de datos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7143750" y="3211859"/>
            <a:ext cx="308669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818CF8"/>
                </a:solidFill>
                <a:latin typeface="Arial"/>
                <a:ea typeface="Arial"/>
                <a:cs typeface="Arial"/>
                <a:sym typeface="Arial"/>
              </a:rPr>
              <a:t>demo-playwright/db/database.js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1543050" y="4362450"/>
            <a:ext cx="388923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Configuración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1543050" y="4743450"/>
            <a:ext cx="3704034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818CF8"/>
                </a:solidFill>
                <a:latin typeface="Arial"/>
                <a:ea typeface="Arial"/>
                <a:cs typeface="Arial"/>
                <a:sym typeface="Arial"/>
              </a:rPr>
              <a:t>demo-playwright/playwright.config.js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7200900" y="4362450"/>
            <a:ext cx="226872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Tests E2E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7200900" y="4743450"/>
            <a:ext cx="2160686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818CF8"/>
                </a:solidFill>
                <a:latin typeface="Arial"/>
                <a:ea typeface="Arial"/>
                <a:cs typeface="Arial"/>
                <a:sym typeface="Arial"/>
              </a:rPr>
              <a:t>demo-playwright/tests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581025" y="485775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Componentes del proyecto</a:t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581025" y="1171575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1857375" y="2342554"/>
            <a:ext cx="9001125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Creación de Skill: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Se creó la skill estandarizada testing-gestionet para formalizar el proceso.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1857375" y="2972990"/>
            <a:ext cx="90011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Criterios de Uso: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Define claramente en qué escenarios y momentos del ciclo de desarrollo aplicar el flujo de testing.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1857375" y="3929062"/>
            <a:ext cx="90011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Ejecución y Despliegue: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Indica de manera precisa cómo ejecutar las pruebas dentro de los contenedores.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1857375" y="4885134"/>
            <a:ext cx="90011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Interpretación de Logs: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Provee directrices para leer fallos y cerrar el ciclo con un informe claro.</a:t>
            </a:r>
            <a:endParaRPr/>
          </a:p>
        </p:txBody>
      </p:sp>
      <p:pic>
        <p:nvPicPr>
          <p:cNvPr id="194" name="Google Shape;19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2375892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3500" y="3006328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33500" y="3962400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33500" y="4918471"/>
            <a:ext cx="3048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 txBox="1"/>
          <p:nvPr/>
        </p:nvSpPr>
        <p:spPr>
          <a:xfrm>
            <a:off x="581025" y="485775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Convertir una demo en una metodología</a:t>
            </a:r>
            <a:endParaRPr/>
          </a:p>
        </p:txBody>
      </p:sp>
      <p:sp>
        <p:nvSpPr>
          <p:cNvPr id="199" name="Google Shape;199;p21"/>
          <p:cNvSpPr/>
          <p:nvPr/>
        </p:nvSpPr>
        <p:spPr>
          <a:xfrm>
            <a:off x="581025" y="1171575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85132"/>
            <a:ext cx="3486150" cy="2878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485132"/>
            <a:ext cx="3486150" cy="2878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485132"/>
            <a:ext cx="3486150" cy="2878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24062" y="2780407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2"/>
          <p:cNvSpPr txBox="1"/>
          <p:nvPr/>
        </p:nvSpPr>
        <p:spPr>
          <a:xfrm>
            <a:off x="1584007" y="3494782"/>
            <a:ext cx="148018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QA Executor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876300" y="3971032"/>
            <a:ext cx="289560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Agente encargado de ejecutar la suite de pruebas automatizadas y de recoger/ordenar todas las evidencias o logs resultantes.</a:t>
            </a:r>
            <a:endParaRPr/>
          </a:p>
        </p:txBody>
      </p:sp>
      <p:pic>
        <p:nvPicPr>
          <p:cNvPr id="211" name="Google Shape;211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57875" y="278040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2"/>
          <p:cNvSpPr txBox="1"/>
          <p:nvPr/>
        </p:nvSpPr>
        <p:spPr>
          <a:xfrm>
            <a:off x="5410914" y="3494782"/>
            <a:ext cx="137017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818C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QA Analyst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4648200" y="3971032"/>
            <a:ext cx="289560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Agente especializado que analiza la causa raíz de los errores documentados y propone o aplica el parche (fix) mínimo necesario.</a:t>
            </a:r>
            <a:endParaRPr/>
          </a:p>
        </p:txBody>
      </p:sp>
      <p:pic>
        <p:nvPicPr>
          <p:cNvPr id="214" name="Google Shape;214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86925" y="2780407"/>
            <a:ext cx="3619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9127807" y="3494782"/>
            <a:ext cx="148018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QA Reporter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8420100" y="3971032"/>
            <a:ext cx="289560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Agente que consolida los resultados de todo el ciclo y emite una recomendación final formal sobre la viabilidad de la versión.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581025" y="485775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Dividir el trabajo por roles IA</a:t>
            </a:r>
            <a:endParaRPr/>
          </a:p>
        </p:txBody>
      </p:sp>
      <p:sp>
        <p:nvSpPr>
          <p:cNvPr id="218" name="Google Shape;218;p22"/>
          <p:cNvSpPr/>
          <p:nvPr/>
        </p:nvSpPr>
        <p:spPr>
          <a:xfrm>
            <a:off x="581025" y="1171575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14550"/>
            <a:ext cx="52768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3"/>
          <p:cNvSpPr txBox="1"/>
          <p:nvPr/>
        </p:nvSpPr>
        <p:spPr>
          <a:xfrm>
            <a:off x="1009650" y="2155924"/>
            <a:ext cx="48482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Menos tiempo invertido en trabajo repetitivo.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1009650" y="2729210"/>
            <a:ext cx="48482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Mayor velocidad al detectar y analizar fallos.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1009650" y="3302496"/>
            <a:ext cx="48482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Cero dependencia de la configuración local del entorno.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1009650" y="4210942"/>
            <a:ext cx="48482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Trazabilidad impecable de los resultados obtenidos.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1009650" y="4784228"/>
            <a:ext cx="48482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Una base sólida y escalable para futuros casos de prueba.</a:t>
            </a:r>
            <a:endParaRPr/>
          </a:p>
        </p:txBody>
      </p:sp>
      <p:pic>
        <p:nvPicPr>
          <p:cNvPr id="230" name="Google Shape;230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3175" y="2133600"/>
            <a:ext cx="5238750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2194024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276731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3340596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1025" y="424904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1025" y="4822328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3"/>
          <p:cNvSpPr txBox="1"/>
          <p:nvPr/>
        </p:nvSpPr>
        <p:spPr>
          <a:xfrm>
            <a:off x="581025" y="485775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Qué aporta al departamento QA</a:t>
            </a:r>
            <a:endParaRPr/>
          </a:p>
        </p:txBody>
      </p:sp>
      <p:sp>
        <p:nvSpPr>
          <p:cNvPr id="237" name="Google Shape;237;p23"/>
          <p:cNvSpPr/>
          <p:nvPr/>
        </p:nvSpPr>
        <p:spPr>
          <a:xfrm>
            <a:off x="581025" y="1171575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686300"/>
            <a:ext cx="3308895" cy="1632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41477" y="2291804"/>
            <a:ext cx="3308895" cy="1632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01930" y="4686300"/>
            <a:ext cx="3308895" cy="163249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4"/>
          <p:cNvSpPr/>
          <p:nvPr/>
        </p:nvSpPr>
        <p:spPr>
          <a:xfrm>
            <a:off x="581025" y="3905250"/>
            <a:ext cx="1102995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4"/>
          <p:cNvSpPr txBox="1"/>
          <p:nvPr/>
        </p:nvSpPr>
        <p:spPr>
          <a:xfrm>
            <a:off x="708328" y="4886325"/>
            <a:ext cx="305428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Creación Práctica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781050" y="5295900"/>
            <a:ext cx="290884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Se creó una prueba realista con Playwright para validar flujos de usuario complejos.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4568781" y="2491829"/>
            <a:ext cx="305428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818C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Aislamiento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4641502" y="2901404"/>
            <a:ext cx="290884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Se encapsuló todo el proceso utilizando Docker para garantizar la reproducibilidad total.</a:t>
            </a:r>
            <a:endParaRPr/>
          </a:p>
        </p:txBody>
      </p:sp>
      <p:sp>
        <p:nvSpPr>
          <p:cNvPr id="251" name="Google Shape;251;p24"/>
          <p:cNvSpPr txBox="1"/>
          <p:nvPr/>
        </p:nvSpPr>
        <p:spPr>
          <a:xfrm>
            <a:off x="8429234" y="4886325"/>
            <a:ext cx="305428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Escalabilidad IA</a:t>
            </a:r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8501955" y="5295900"/>
            <a:ext cx="290884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Finalmente, la solución técnica se transformó en una plantilla colaborativa de agentes QA.</a:t>
            </a:r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581025" y="485775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Conclusiones del proceso</a:t>
            </a:r>
            <a:endParaRPr/>
          </a:p>
        </p:txBody>
      </p:sp>
      <p:sp>
        <p:nvSpPr>
          <p:cNvPr id="254" name="Google Shape;254;p24"/>
          <p:cNvSpPr/>
          <p:nvPr/>
        </p:nvSpPr>
        <p:spPr>
          <a:xfrm>
            <a:off x="581025" y="1171575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2121172" y="41910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5981625" y="41910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4"/>
          <p:cNvSpPr/>
          <p:nvPr/>
        </p:nvSpPr>
        <p:spPr>
          <a:xfrm>
            <a:off x="9842078" y="41910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52612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5"/>
          <p:cNvSpPr txBox="1"/>
          <p:nvPr/>
        </p:nvSpPr>
        <p:spPr>
          <a:xfrm>
            <a:off x="1945925" y="1526097"/>
            <a:ext cx="99345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https://pctechmag.com/wp-content/uploads/2026/04/Gemini_Generated_Image_f4h8s2f4h8s2f4h8-1-332x181.jpg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1876050" y="1864212"/>
            <a:ext cx="9934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pctechmag.com</a:t>
            </a:r>
            <a:endParaRPr/>
          </a:p>
        </p:txBody>
      </p:sp>
      <p:pic>
        <p:nvPicPr>
          <p:cNvPr id="265" name="Google Shape;265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24417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5"/>
          <p:cNvSpPr txBox="1"/>
          <p:nvPr/>
        </p:nvSpPr>
        <p:spPr>
          <a:xfrm>
            <a:off x="1726288" y="3427105"/>
            <a:ext cx="9934500" cy="3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https://lh3.googleusercontent.com/7Va8_kUacbHm6UMytwAy3AAhLggD-CCHVN86bQvwHtIahUgghvq6UwYMnBY2G-4c6DD0S_A1QxPEKknqcNdbKgDFNxZqIq42HoJS76eVPaqct-OEEOK4dCz5EsbxkaOJGKpwo1q3</a:t>
            </a:r>
            <a:endParaRPr/>
          </a:p>
        </p:txBody>
      </p:sp>
      <p:sp>
        <p:nvSpPr>
          <p:cNvPr id="267" name="Google Shape;267;p25"/>
          <p:cNvSpPr txBox="1"/>
          <p:nvPr/>
        </p:nvSpPr>
        <p:spPr>
          <a:xfrm>
            <a:off x="1726325" y="3193998"/>
            <a:ext cx="9934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cmcglobal.com.vn</a:t>
            </a:r>
            <a:endParaRPr/>
          </a:p>
        </p:txBody>
      </p:sp>
      <p:pic>
        <p:nvPicPr>
          <p:cNvPr id="268" name="Google Shape;268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96222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5"/>
          <p:cNvSpPr txBox="1"/>
          <p:nvPr/>
        </p:nvSpPr>
        <p:spPr>
          <a:xfrm>
            <a:off x="1676400" y="4955678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https://aigrowthlogic.com/wp-content/uploads/2025/10/ai-customer-analytics-copilot-dashboard-768x419.webp</a:t>
            </a:r>
            <a:endParaRPr/>
          </a:p>
        </p:txBody>
      </p:sp>
      <p:sp>
        <p:nvSpPr>
          <p:cNvPr id="270" name="Google Shape;270;p25"/>
          <p:cNvSpPr txBox="1"/>
          <p:nvPr/>
        </p:nvSpPr>
        <p:spPr>
          <a:xfrm>
            <a:off x="1676400" y="5201394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aigrowthlogic.com</a:t>
            </a:r>
            <a:endParaRPr/>
          </a:p>
        </p:txBody>
      </p:sp>
      <p:sp>
        <p:nvSpPr>
          <p:cNvPr id="271" name="Google Shape;271;p25"/>
          <p:cNvSpPr txBox="1"/>
          <p:nvPr/>
        </p:nvSpPr>
        <p:spPr>
          <a:xfrm>
            <a:off x="581025" y="485775"/>
            <a:ext cx="1158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Fuentes de  las Imágenes</a:t>
            </a:r>
            <a:endParaRPr/>
          </a:p>
        </p:txBody>
      </p:sp>
      <p:sp>
        <p:nvSpPr>
          <p:cNvPr id="272" name="Google Shape;272;p25"/>
          <p:cNvSpPr/>
          <p:nvPr/>
        </p:nvSpPr>
        <p:spPr>
          <a:xfrm>
            <a:off x="581025" y="1171575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624</Words>
  <Application>Microsoft Macintosh PowerPoint</Application>
  <PresentationFormat>Widescreen</PresentationFormat>
  <Paragraphs>66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Lato</vt:lpstr>
      <vt:lpstr>Poppins SemiBold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Mirel Volcan</cp:lastModifiedBy>
  <cp:revision>2</cp:revision>
  <dcterms:modified xsi:type="dcterms:W3CDTF">2026-07-19T20:50:38Z</dcterms:modified>
</cp:coreProperties>
</file>